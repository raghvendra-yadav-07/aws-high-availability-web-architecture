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3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077938"/>
            <a:ext cx="2867025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81025" y="2601813"/>
            <a:ext cx="11581447" cy="6351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002"/>
              </a:lnSpc>
            </a:pPr>
            <a:r>
              <a:rPr sz="4350" b="1" i="0" u="none">
                <a:solidFill>
                  <a:srgbClr val="F8FAFC"/>
                </a:solidFill>
                <a:latin typeface="Plus Jakarta Sans"/>
              </a:rPr>
              <a:t>Project 3 Deployment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3427511"/>
            <a:ext cx="7620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sz="1500" b="0" i="0" u="none">
                <a:solidFill>
                  <a:srgbClr val="CBD5E1"/>
                </a:solidFill>
                <a:latin typeface="Inter"/>
              </a:rPr>
              <a:t>A full-stack, highly available 3-tier AWS deployment featuring Nginx, Dual EC2 Frontends, Node.js Backend, Application Load Balancer, and Amazon RDS MySQL.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2158900"/>
            <a:ext cx="171450" cy="133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4484786"/>
            <a:ext cx="729704" cy="2381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82179" y="4484786"/>
            <a:ext cx="1101328" cy="2381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54957" y="4484786"/>
            <a:ext cx="1175593" cy="2381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02000" y="4484786"/>
            <a:ext cx="1621482" cy="2381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94933" y="4484786"/>
            <a:ext cx="1249858" cy="238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16241" y="4484786"/>
            <a:ext cx="1398537" cy="238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715000" y="2832794"/>
            <a:ext cx="7620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20515" y="3061394"/>
            <a:ext cx="7750968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System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04950" y="3842444"/>
            <a:ext cx="9182100" cy="25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Comprehensive breakdown of the multi-tier networking, load balancing, compute instances, and database connectivity.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37804"/>
            <a:ext cx="5324475" cy="28110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37804"/>
            <a:ext cx="5324475" cy="28110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557212"/>
            <a:ext cx="304800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95350" y="2752129"/>
            <a:ext cx="4930616" cy="285750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Public Presentation 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50" y="3152179"/>
            <a:ext cx="46958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Load Balancer: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AWS Application Load Balancer listening on Port 80 distributing traffic equally (50/50 ratio) across public targets.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5350" y="4043362"/>
            <a:ext cx="46958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Web Servers: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Two distinct EC2 frontend instances deployed across Availability Zones (us-east-1a and us-east-1b) hosting HTML/CSS assets with Nginx.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752129"/>
            <a:ext cx="4930616" cy="285750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Private Application &amp; Data Tier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152179"/>
            <a:ext cx="46958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Backend API: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Node.js application server (server.js) running isolated in a private subnet on Port 3000 with NAT Gateway egress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825" y="4043362"/>
            <a:ext cx="469582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Database Tier: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Amazon RDS MySQL database instance (database-1) listening on Port 3306 with restricted VPC Security Group access.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5350" y="2790229"/>
            <a:ext cx="285750" cy="2286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00825" y="2790229"/>
            <a:ext cx="228600" cy="228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00125" y="485775"/>
            <a:ext cx="11141392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3-Tier Cloud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033587"/>
            <a:ext cx="5324475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557212"/>
            <a:ext cx="3048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33587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User Interface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33637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The web frontend is composed of responsive HTML5 and CSS templates providing an intuitive user form for submitting records directly into the connected database.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35434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353395"/>
            <a:ext cx="5133975" cy="258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Static Files: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HTML/CSS files hosted via Nginx web server.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613308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12356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Form Inputs: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Full Name, Email Address, Category selection, and Notes.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1312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130278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Asynchronous Requests: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Submits RESTful JSON payloads to backend API.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275" y="4649152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1525" y="4648200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Reverse Proxy: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Nginx proxies incoming Port 80 web requests seamlessly.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2043112"/>
            <a:ext cx="5305425" cy="36004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00125" y="485775"/>
            <a:ext cx="11141392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Frontend Web Interface &amp; Forms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B893AB1-4C89-21B6-B9A8-39D6ADDA3E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1723" y="103343"/>
            <a:ext cx="5590699" cy="66800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57212"/>
            <a:ext cx="3048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33587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Isolated AWS Network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33637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Custom Virtual Private Cloud (project 3-vpc) created with a CIDR block of 10.0.0.0/16 ensuring secure multi-AZ network segregation.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35434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353395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Public Subnets: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public1-us-east-1a and public2-us-east-1b connected to Internet Gateway (project 3-igw).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872269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871317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Private Subnets: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private2-us-east-1b isolated from direct public ingress, utilizing NAT Gateway for outbound updates.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39019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389239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Route Tables: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Dedicated public and private route tables managing traffic flow.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0125" y="485775"/>
            <a:ext cx="11141392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VPC &amp; Subnet Network Mapping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1F5BA16-2C10-E49E-2300-1071427AFE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2176462"/>
            <a:ext cx="5708972" cy="26923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57212"/>
            <a:ext cx="266700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33587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Compute Nodes Provisioning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33637"/>
            <a:ext cx="53244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Three t3.micro EC2 virtual machines deployed across multiple Availability Zones to achieve high availability and fault tolerance.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09538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094434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frontend (i-063a59c4fb9dcf5d1):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Public subnet in us-east-1a running Nginx.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613308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12356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frontend 2 (i-0da4847852bdf5d7e):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Public subnet in us-east-1b running Nginx.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131230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130278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backend (i-05dc77af43802add9):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Private subnet in us-east-1b running Node.js server.js.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2025" y="485775"/>
            <a:ext cx="1118139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EC2 Instances &amp; Availability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686FAC9-3B80-5FFC-EC7F-9ED35F83BE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204604"/>
            <a:ext cx="6316935" cy="287133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57212"/>
            <a:ext cx="33337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33587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Traffic Distribution &amp; Routing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33637"/>
            <a:ext cx="5324475" cy="5179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AWS ALB (project3) routes user traffic evenly across both frontend nodes to guarantee zero downtime and balanced server 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095386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094434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ALB DNS Endpoint: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project3-147046591.us-east-1.elb.amazonaws.com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613308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612356"/>
            <a:ext cx="5133975" cy="258960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HTTP Rule (Port 80):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Listens for incoming public HTTP requests.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3872269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3871317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Target Group Weighted Routing: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50% traffic forwarded to project3 target group and 50% to project32 target group.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485775"/>
            <a:ext cx="11111388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Application Load Balancer Setup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EDFCF2C-C09F-5B1E-937E-B4EDF0476D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1470" y="1864178"/>
            <a:ext cx="6125954" cy="26744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57212"/>
            <a:ext cx="238125" cy="2667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2033587"/>
            <a:ext cx="559069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i="0" u="none">
                <a:solidFill>
                  <a:srgbClr val="38BDF8"/>
                </a:solidFill>
                <a:latin typeface="Plus Jakarta Sans SemiBold"/>
              </a:rPr>
              <a:t>Database Engine &amp; Backend Connection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2433637"/>
            <a:ext cx="5324475" cy="7768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Amazon RDS MySQL instance (database-1) configured as the centralized relational data persistence layer for backend transactions.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275" y="3354347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1525" y="3353395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Endpoint: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database-1.cmjgsswqw82d.us-east-1.rds.amazonaws.com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275" y="3872269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1525" y="3871317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Configuration: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MySQL engine running on standard Port 3306 with admin master user.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275" y="4390191"/>
            <a:ext cx="95250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75" b="0" i="0" u="none">
                <a:solidFill>
                  <a:srgbClr val="94A3B8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525" y="4389239"/>
            <a:ext cx="5133975" cy="517921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sz="1275" b="1" i="0" u="none">
                <a:solidFill>
                  <a:srgbClr val="94A3B8"/>
                </a:solidFill>
                <a:latin typeface="Inter"/>
              </a:rPr>
              <a:t>Network Isolation:</a:t>
            </a:r>
            <a:r>
              <a:rPr sz="1275" b="0" i="0" u="none">
                <a:solidFill>
                  <a:srgbClr val="94A3B8"/>
                </a:solidFill>
                <a:latin typeface="Inter"/>
              </a:rPr>
              <a:t> Internet Access Gateway Disabled; accessible exclusively from backend security group rds-ec2-1.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3450" y="485775"/>
            <a:ext cx="11211401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Backend Server &amp; RDS MySQL DB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4D6666F-F765-0219-B18C-93C1CE678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5500" y="2319336"/>
            <a:ext cx="6078849" cy="29028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557212"/>
            <a:ext cx="266700" cy="2667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09650" y="2403276"/>
            <a:ext cx="10601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VPC Security Groups: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Configured granular inbound rules allowing ALB to Frontend (Port 80), Frontend Nginx to Backend (Port 3000), and Backend to RDS (Port 3306).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9650" y="3123307"/>
            <a:ext cx="10601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Private Subnet Isolation: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The backend Node.js server and Amazon RDS instance operate inside private subnets without public IPv4 addresses.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9650" y="3843337"/>
            <a:ext cx="10601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NAT Gateway Egress: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Enables private backend instances to pull updates and packages securely from the internet without exposing inbound access.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9650" y="4563367"/>
            <a:ext cx="10601325" cy="548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sz="1350" b="0" i="0" u="none">
                <a:solidFill>
                  <a:srgbClr val="F8FAFC"/>
                </a:solidFill>
                <a:latin typeface="Inter SemiBold"/>
              </a:rPr>
              <a:t>Nginx Reverse Proxy:</a:t>
            </a:r>
            <a:r>
              <a:rPr sz="1350" b="0" i="0" u="none">
                <a:solidFill>
                  <a:srgbClr val="94A3B8"/>
                </a:solidFill>
                <a:latin typeface="Inter"/>
              </a:rPr>
              <a:t> Hides underlying Node.js application server signature and manages client connection forwarding efficiently.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025" y="2427089"/>
            <a:ext cx="171450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025" y="3147119"/>
            <a:ext cx="238125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3867150"/>
            <a:ext cx="238125" cy="2000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4587180"/>
            <a:ext cx="238125" cy="20002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62025" y="485775"/>
            <a:ext cx="11181397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Security &amp; Network Isolation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4319587"/>
            <a:ext cx="2536775" cy="21234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2033" y="1883568"/>
            <a:ext cx="2536775" cy="18645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042" y="4319587"/>
            <a:ext cx="2536775" cy="21234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4050" y="1624607"/>
            <a:ext cx="2536775" cy="21234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1025" y="557212"/>
            <a:ext cx="238125" cy="2667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1025" y="4014787"/>
            <a:ext cx="11029950" cy="3810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27631" y="4519612"/>
            <a:ext cx="22435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US" sz="1500" dirty="0">
                <a:solidFill>
                  <a:srgbClr val="38BDF8"/>
                </a:solidFill>
                <a:latin typeface="Plus Jakarta Sans SemiBold"/>
              </a:rPr>
              <a:t>Local source </a:t>
            </a:r>
            <a:endParaRPr sz="1500" b="0" i="0" u="none" dirty="0">
              <a:solidFill>
                <a:srgbClr val="38BDF8"/>
              </a:solidFill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6774" y="4708327"/>
            <a:ext cx="2136725" cy="4919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275" dirty="0">
                <a:solidFill>
                  <a:srgbClr val="94A3B8"/>
                </a:solidFill>
                <a:latin typeface="Inter"/>
              </a:rPr>
              <a:t>Code resource (uploaded from local device )</a:t>
            </a:r>
            <a:endParaRPr sz="1275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58640" y="2083593"/>
            <a:ext cx="22435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2. Provision AWS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2058" y="2397918"/>
            <a:ext cx="2136725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Create VPC, public/private subnets, Internet Gateway, NAT Gateway, Security Groups, and RDS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9649" y="4519612"/>
            <a:ext cx="22435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3. Deploy EC2 &amp; Nginx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3067" y="4833937"/>
            <a:ext cx="2136725" cy="100495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lang="en-US" sz="1275" dirty="0">
                <a:solidFill>
                  <a:srgbClr val="94A3B8"/>
                </a:solidFill>
                <a:latin typeface="Inter"/>
              </a:rPr>
              <a:t>Uploaded </a:t>
            </a:r>
            <a:r>
              <a:rPr sz="1275" b="0" i="0" u="none" dirty="0">
                <a:solidFill>
                  <a:srgbClr val="94A3B8"/>
                </a:solidFill>
                <a:latin typeface="Inter"/>
              </a:rPr>
              <a:t> on EC2 instances, configure Nginx reverse proxy on port 3000, and launch Node.js service.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20657" y="1824632"/>
            <a:ext cx="2243561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38BDF8"/>
                </a:solidFill>
                <a:latin typeface="Plus Jakarta Sans SemiBold"/>
              </a:rPr>
              <a:t>4. ALB &amp; Route 53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74075" y="2138957"/>
            <a:ext cx="2136725" cy="12948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sz="1275" b="0" i="0" u="none">
                <a:solidFill>
                  <a:srgbClr val="94A3B8"/>
                </a:solidFill>
                <a:latin typeface="Inter"/>
              </a:rPr>
              <a:t>Attach target groups to Load Balancer, test 50/50 traffic routing, and verify end-to-end RDS submission.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3450" y="485775"/>
            <a:ext cx="11211401" cy="42862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550" b="1" i="0" u="none">
                <a:solidFill>
                  <a:srgbClr val="F8FAFC"/>
                </a:solidFill>
                <a:latin typeface="Plus Jakarta Sans"/>
              </a:rPr>
              <a:t>Deployment Workflow &amp; Git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1025" y="1009650"/>
            <a:ext cx="11029950" cy="19050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763687" y="39481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594696" y="39481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425704" y="39481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256713" y="3948112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>
            <a:solidFill>
              <a:srgbClr val="38BD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392" y="2230635"/>
            <a:ext cx="6297066" cy="4476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05276" y="485775"/>
            <a:ext cx="11581447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>
                <a:solidFill>
                  <a:srgbClr val="F8FAFC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1400175"/>
            <a:ext cx="11029950" cy="335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sz="1650" b="0" i="0" u="none">
                <a:solidFill>
                  <a:srgbClr val="94A3B8"/>
                </a:solidFill>
                <a:latin typeface="Inter"/>
              </a:rPr>
              <a:t>Project 3 AWS Infrastructure Deployment Complete &amp; Ready for Review.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5517" y="2373510"/>
            <a:ext cx="161925" cy="1714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756</Words>
  <Application>Microsoft Office PowerPoint</Application>
  <PresentationFormat>Widescreen</PresentationFormat>
  <Paragraphs>74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Inter</vt:lpstr>
      <vt:lpstr>Inter SemiBold</vt:lpstr>
      <vt:lpstr>Plus Jakarta Sans</vt:lpstr>
      <vt:lpstr>Plus Jakarta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sangam yadav</cp:lastModifiedBy>
  <cp:revision>2</cp:revision>
  <dcterms:created xsi:type="dcterms:W3CDTF">2013-01-27T09:14:16Z</dcterms:created>
  <dcterms:modified xsi:type="dcterms:W3CDTF">2026-08-13T16:36:02Z</dcterms:modified>
  <cp:category/>
</cp:coreProperties>
</file>